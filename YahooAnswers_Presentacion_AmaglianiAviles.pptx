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9879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7498080" y="4114800"/>
            <a:ext cx="1645920" cy="1028700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6400800" y="4572000"/>
            <a:ext cx="1097280" cy="571500"/>
          </a:xfrm>
          <a:prstGeom prst="rect">
            <a:avLst/>
          </a:prstGeom>
          <a:solidFill>
            <a:srgbClr val="FF7A3D"/>
          </a:solidFill>
          <a:ln w="12700">
            <a:solidFill>
              <a:srgbClr val="FF7A3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029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400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PROYECTO BASES DE DATOS DOCUMENTALES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Yahoo</a:t>
            </a:r>
            <a:r>
              <a:rPr lang="en-US" sz="46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</a:t>
            </a:r>
            <a:r>
              <a:rPr lang="en-US" sz="4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-XML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Análisis de Yahoo! Answers con XML y eXist-db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578608"/>
            <a:ext cx="4114800" cy="0"/>
          </a:xfrm>
          <a:prstGeom prst="line">
            <a:avLst/>
          </a:prstGeom>
          <a:noFill/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AUTORES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" y="29992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Matteo Amagliani &amp; Manuel Avilés Rodríguez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5204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ASIGNATURA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Bases de Datos Documentales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4720" y="35204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/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0" y="35204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FECHA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B0BE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Marzo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4983480"/>
            <a:ext cx="8595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YAHOOANSWERS-XML PROJECT  •  BASES DE DATOS DOCUMENTALES 2025/26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PUNTO DE PARTIDA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34747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corpus: </a:t>
            </a:r>
            <a:r>
              <a:rPr lang="en-US" sz="22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Yahoo! Answers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dataset masivo de preguntas y respuestas para investigación en recuperación de información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8321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920240" cy="932688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411480" y="1325880"/>
            <a:ext cx="1920240" cy="512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4.4M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11480" y="1775765"/>
            <a:ext cx="1920240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Preguntas totales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el corpus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14600" y="1216152"/>
            <a:ext cx="1920240" cy="932688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2514600" y="1325880"/>
            <a:ext cx="1920240" cy="512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16.952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514600" y="1775765"/>
            <a:ext cx="1920240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analizados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17720" y="1216152"/>
            <a:ext cx="1920240" cy="932688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617720" y="1325880"/>
            <a:ext cx="1920240" cy="512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161.365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17720" y="1775765"/>
            <a:ext cx="1920240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Respuestas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totales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720840" y="1216152"/>
            <a:ext cx="1920240" cy="932688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6720840" y="1325880"/>
            <a:ext cx="1920240" cy="512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720840" y="1775765"/>
            <a:ext cx="1920240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Categorías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bilingües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" y="2423160"/>
            <a:ext cx="4069080" cy="75895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411480" y="2431390"/>
            <a:ext cx="45720" cy="750722"/>
          </a:xfrm>
          <a:prstGeom prst="rect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521208" y="244356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Política y Gobierno (ES)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21208" y="269959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12.976 preguntas · 119.262 respuestas · Media: 9,19 resp./preg.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1480" y="3346704"/>
            <a:ext cx="4069080" cy="75072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411480" y="3346704"/>
            <a:ext cx="45719" cy="750722"/>
          </a:xfrm>
          <a:prstGeom prst="rect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521208" y="343814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Noticias y Actualidad (ES)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1208" y="3694176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674 preguntas · 4.740 respuestas · Media: 7,03 resp./preg.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431390"/>
            <a:ext cx="4069080" cy="75072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4663440" y="2431390"/>
            <a:ext cx="45720" cy="75072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4777740" y="243748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Politica e governo (IT)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77740" y="270571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2.118 preguntas · 25.456 respuestas · Media: 12,02 resp./preg.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346704"/>
            <a:ext cx="4069080" cy="75072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Shape 32"/>
          <p:cNvSpPr/>
          <p:nvPr/>
        </p:nvSpPr>
        <p:spPr>
          <a:xfrm>
            <a:off x="4663440" y="3346704"/>
            <a:ext cx="45720" cy="75072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4773168" y="343814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Notizie ed eventi (IT)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73168" y="3694176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1.184 preguntas · 11.907 respuestas · Media: 10,06 resp./preg.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11480" y="2221078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182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🇪🇸  Español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2212848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53E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🇮🇹  Italiano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1480" y="4370832"/>
            <a:ext cx="8321040" cy="393192"/>
          </a:xfrm>
          <a:prstGeom prst="rect">
            <a:avLst/>
          </a:prstGeom>
          <a:solidFill>
            <a:srgbClr val="FFF5F0"/>
          </a:solidFill>
          <a:ln w="12700">
            <a:solidFill>
              <a:srgbClr val="FFD0B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Text 38"/>
          <p:cNvSpPr/>
          <p:nvPr/>
        </p:nvSpPr>
        <p:spPr>
          <a:xfrm>
            <a:off x="481584" y="4370832"/>
            <a:ext cx="82722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Corpus original: ydata-yanswers-all-questions-v1_0 (Yahoo! Research Webscope, oct. 2007) · 12 GB · 4.483.032 preguntas en todos los idiomas. Extraídos mediante parser SAX en Python.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4983480"/>
            <a:ext cx="8595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YAHOOANSWERS-XML PROJECT  •  BASES DE DATOS DOCUMENTALES 2025/26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NUESTRA SOLUCIÓN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34747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YahooAnswers-XML</a:t>
            </a:r>
            <a:r>
              <a:rPr lang="en-US" sz="2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flujo completo de análisis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un corpus de 12 GB a resultados sobre Redes Sociales y Calidad de Datos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8321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920240" cy="187452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1051560" y="1307592"/>
            <a:ext cx="640080" cy="640080"/>
          </a:xfrm>
          <a:prstGeom prst="ellipse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1051560" y="1307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" y="2029968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Extracción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" y="2331720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Parser SAX sobre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FullOct2007.xml (12 GB)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4 ficheros XML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331720" y="2148840"/>
            <a:ext cx="256032" cy="0"/>
          </a:xfrm>
          <a:prstGeom prst="line">
            <a:avLst/>
          </a:prstGeom>
          <a:noFill/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2587752" y="1216152"/>
            <a:ext cx="1920240" cy="187452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3227832" y="1307592"/>
            <a:ext cx="640080" cy="640080"/>
          </a:xfrm>
          <a:prstGeom prst="ellipse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3227832" y="1307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660904" y="2029968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XSD + XSLT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60904" y="2331720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Validación del esquema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Transformación HTML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navegable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07992" y="2148840"/>
            <a:ext cx="256032" cy="0"/>
          </a:xfrm>
          <a:prstGeom prst="line">
            <a:avLst/>
          </a:prstGeom>
          <a:noFill/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4764024" y="1216152"/>
            <a:ext cx="1920240" cy="187452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5404104" y="1307592"/>
            <a:ext cx="640080" cy="640080"/>
          </a:xfrm>
          <a:prstGeom prst="ellipse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5404104" y="1307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37176" y="2029968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eXist-db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37176" y="2331720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Carga de los 4 XML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colecciones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/es/ y /it/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684264" y="2148840"/>
            <a:ext cx="256032" cy="0"/>
          </a:xfrm>
          <a:prstGeom prst="line">
            <a:avLst/>
          </a:prstGeom>
          <a:noFill/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6940296" y="1216152"/>
            <a:ext cx="1920240" cy="187452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6"/>
          <p:cNvSpPr/>
          <p:nvPr/>
        </p:nvSpPr>
        <p:spPr>
          <a:xfrm>
            <a:off x="7580376" y="1307592"/>
            <a:ext cx="640080" cy="640080"/>
          </a:xfrm>
          <a:prstGeom prst="ellipse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7580376" y="1307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013448" y="2029968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XQuery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13448" y="2331720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consultas de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Análisis de Redes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Calidad de Datos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11480" y="321868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Objetivos específicos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1480" y="3456432"/>
            <a:ext cx="8321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411480" y="354787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Diseñar un esquema XSD que valide la estructura del corpus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11480" y="380390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Construir un XSD ampliado con métricas de calidad y anotaciones de red social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11480" y="405993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Implementar transformaciones XSLT a HTML navegable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709160" y="354787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Cargar los 4 XML en eXist-db y desarrollar consultas XQuery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709160" y="380390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</a:t>
            </a: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Analizar Redes Sociales y Calidad de Datos sobre el corpus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4983480"/>
            <a:ext cx="8595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YAHOOANSWERS-XML PROJECT  •  BASES DE DATOS DOCUMENTALES 2025/26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ESQUEMA XML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34747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XSD</a:t>
            </a:r>
            <a:r>
              <a:rPr lang="en-US" sz="2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validación y extensión del corpus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Definición formal de la estructura de los documentos del corpus Yahoo! Answers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8321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11480" y="12070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XSD Original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1517904"/>
            <a:ext cx="1417320" cy="237744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57200" y="151790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Campo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874520" y="1517904"/>
            <a:ext cx="1325880" cy="237744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1920240" y="151790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Tipo XSD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46120" y="1517904"/>
            <a:ext cx="731520" cy="237744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291840" y="1517904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Oblig.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11480" y="1755648"/>
            <a:ext cx="14173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466344" y="1755648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uri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874520" y="1755648"/>
            <a:ext cx="132588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1929384" y="1755648"/>
            <a:ext cx="1271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positiveInteger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46120" y="1755648"/>
            <a:ext cx="7315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3300984" y="1755648"/>
            <a:ext cx="67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11480" y="2002536"/>
            <a:ext cx="14173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466344" y="2002536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subject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874520" y="2002536"/>
            <a:ext cx="13258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1929384" y="2002536"/>
            <a:ext cx="1271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46120" y="2002536"/>
            <a:ext cx="7315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3300984" y="2002536"/>
            <a:ext cx="67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11480" y="2249424"/>
            <a:ext cx="14173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466344" y="2249424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874520" y="2249424"/>
            <a:ext cx="132588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1929384" y="2249424"/>
            <a:ext cx="1271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string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46120" y="2249424"/>
            <a:ext cx="7315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3300984" y="2249424"/>
            <a:ext cx="67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E53E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11480" y="2496312"/>
            <a:ext cx="14173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466344" y="2496312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bestanswer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874520" y="2496312"/>
            <a:ext cx="13258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5"/>
          <p:cNvSpPr/>
          <p:nvPr/>
        </p:nvSpPr>
        <p:spPr>
          <a:xfrm>
            <a:off x="1929384" y="2496312"/>
            <a:ext cx="1271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246120" y="2496312"/>
            <a:ext cx="7315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Text 37"/>
          <p:cNvSpPr/>
          <p:nvPr/>
        </p:nvSpPr>
        <p:spPr>
          <a:xfrm>
            <a:off x="3300984" y="2496312"/>
            <a:ext cx="67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11480" y="2743200"/>
            <a:ext cx="14173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Text 39"/>
          <p:cNvSpPr/>
          <p:nvPr/>
        </p:nvSpPr>
        <p:spPr>
          <a:xfrm>
            <a:off x="466344" y="2743200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nbestanswers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74520" y="2743200"/>
            <a:ext cx="132588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3" name="Text 41"/>
          <p:cNvSpPr/>
          <p:nvPr/>
        </p:nvSpPr>
        <p:spPr>
          <a:xfrm>
            <a:off x="1929384" y="2743200"/>
            <a:ext cx="1271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ListaRespuestas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246120" y="2743200"/>
            <a:ext cx="7315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43"/>
          <p:cNvSpPr/>
          <p:nvPr/>
        </p:nvSpPr>
        <p:spPr>
          <a:xfrm>
            <a:off x="3300984" y="2743200"/>
            <a:ext cx="67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11480" y="2990088"/>
            <a:ext cx="14173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5"/>
          <p:cNvSpPr/>
          <p:nvPr/>
        </p:nvSpPr>
        <p:spPr>
          <a:xfrm>
            <a:off x="466344" y="2990088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1874520" y="2990088"/>
            <a:ext cx="13258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9" name="Text 47"/>
          <p:cNvSpPr/>
          <p:nvPr/>
        </p:nvSpPr>
        <p:spPr>
          <a:xfrm>
            <a:off x="1929384" y="2990088"/>
            <a:ext cx="1271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xs:long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46120" y="2990088"/>
            <a:ext cx="7315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Text 49"/>
          <p:cNvSpPr/>
          <p:nvPr/>
        </p:nvSpPr>
        <p:spPr>
          <a:xfrm>
            <a:off x="3300984" y="2990088"/>
            <a:ext cx="67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11480" y="3236976"/>
            <a:ext cx="14173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3" name="Text 51"/>
          <p:cNvSpPr/>
          <p:nvPr/>
        </p:nvSpPr>
        <p:spPr>
          <a:xfrm>
            <a:off x="466344" y="3236976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vot_date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1874520" y="3236976"/>
            <a:ext cx="132588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5" name="Text 53"/>
          <p:cNvSpPr/>
          <p:nvPr/>
        </p:nvSpPr>
        <p:spPr>
          <a:xfrm>
            <a:off x="1929384" y="3236976"/>
            <a:ext cx="1271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xs:long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246120" y="3236976"/>
            <a:ext cx="7315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5"/>
          <p:cNvSpPr/>
          <p:nvPr/>
        </p:nvSpPr>
        <p:spPr>
          <a:xfrm>
            <a:off x="3300984" y="3236976"/>
            <a:ext cx="67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E53E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11480" y="3483864"/>
            <a:ext cx="14173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9" name="Text 57"/>
          <p:cNvSpPr/>
          <p:nvPr/>
        </p:nvSpPr>
        <p:spPr>
          <a:xfrm>
            <a:off x="466344" y="3483864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 / best_id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74520" y="3483864"/>
            <a:ext cx="13258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Text 59"/>
          <p:cNvSpPr/>
          <p:nvPr/>
        </p:nvSpPr>
        <p:spPr>
          <a:xfrm>
            <a:off x="1929384" y="3483864"/>
            <a:ext cx="1271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UserId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246120" y="3483864"/>
            <a:ext cx="7315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3" name="Text 61"/>
          <p:cNvSpPr/>
          <p:nvPr/>
        </p:nvSpPr>
        <p:spPr>
          <a:xfrm>
            <a:off x="3300984" y="3483864"/>
            <a:ext cx="676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11480" y="37490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Tipos restringidos: CodigoIdioma ([a-z]{2}) · UserId (u[0-9]+)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663440" y="1207008"/>
            <a:ext cx="0" cy="32004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4"/>
          <p:cNvSpPr/>
          <p:nvPr/>
        </p:nvSpPr>
        <p:spPr>
          <a:xfrm>
            <a:off x="4800600" y="12070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XSD Ampliado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4800600" y="1490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Extiende el esquema original con dos nuevos elementos opcionales para el análisis: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800600" y="1810512"/>
            <a:ext cx="3931920" cy="1115568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Shape 67"/>
          <p:cNvSpPr/>
          <p:nvPr/>
        </p:nvSpPr>
        <p:spPr>
          <a:xfrm>
            <a:off x="4800600" y="1810512"/>
            <a:ext cx="45720" cy="1115568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0" name="Text 68"/>
          <p:cNvSpPr/>
          <p:nvPr/>
        </p:nvSpPr>
        <p:spPr>
          <a:xfrm>
            <a:off x="4910328" y="19019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&lt;metricas_calidad&gt;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4910328" y="2157984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tiene_content · longitud_subject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longitud_bestanswer · num_respuestas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fue_votado · tiempo_resolucion_seg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800600" y="2999232"/>
            <a:ext cx="3931920" cy="932688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3" name="Shape 71"/>
          <p:cNvSpPr/>
          <p:nvPr/>
        </p:nvSpPr>
        <p:spPr>
          <a:xfrm>
            <a:off x="4800600" y="2999232"/>
            <a:ext cx="45720" cy="932688"/>
          </a:xfrm>
          <a:prstGeom prst="rect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4" name="Text 72"/>
          <p:cNvSpPr/>
          <p:nvPr/>
        </p:nvSpPr>
        <p:spPr>
          <a:xfrm>
            <a:off x="4910328" y="30906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&lt;red_social&gt;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4910328" y="3346704"/>
            <a:ext cx="3749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autor_es_respondedor · subcats_usuario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peso_enlace (para grafos sociales)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4800599" y="3986784"/>
            <a:ext cx="35380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Todos los campos nuevos usan minOccurs="0" para compatibilidad con el corpus original.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4983480"/>
            <a:ext cx="8595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YAHOOANSWERS-XML PROJECT  •  BASES DE DATOS DOCUMENTALES 2025/26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XSLT Y CARGA EN EXIST-DB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34747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Transformación HTML y </a:t>
            </a:r>
            <a:r>
              <a:rPr lang="en-US" sz="22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carga en eXist-db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los XML del corpus a una base de datos consultable mediante XQuery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8321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11480" y="12070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Transformaciones XSLT 1.0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1508760"/>
            <a:ext cx="4114800" cy="82296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45720" cy="822960"/>
          </a:xfrm>
          <a:prstGeom prst="rect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21208" y="1600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es_html.xsl  —  Español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1208" y="18562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Cabecera azul · Textos en español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"Mejor respuesta" · desplegable otras resp.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5488" y="2558913"/>
            <a:ext cx="4114800" cy="80467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28088" y="2554576"/>
            <a:ext cx="45719" cy="80467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521208" y="2624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it_html.xsl  —  Italiano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21208" y="288036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Cabecera roja · Textos en italiano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"Migliore risposta" · desplegable altre risp.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11480" y="35204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Características comunes: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37490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Cabecera con categoría y count(//document)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Tarjeta por documento: subject + bestanswer resaltado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&lt;details&gt; desplegable para demás respuestas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Metadatos: subcategoría, IDs, código de idioma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207008"/>
            <a:ext cx="0" cy="32004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800600" y="12070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Carga en eXist-db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1508760"/>
            <a:ext cx="3931920" cy="9144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4892040" y="1572768"/>
            <a:ext cx="37490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/db/yahooanswers/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es/  politica_y_gobierno.xml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noticias_y_actualidad.xml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it/  politica_e_governo.xml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A8D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notizie_ed_eventi.xml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00600" y="2551176"/>
            <a:ext cx="3931920" cy="80467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4800600" y="2551176"/>
            <a:ext cx="45720" cy="804672"/>
          </a:xfrm>
          <a:prstGeom prst="rect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4910328" y="264261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de carga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10328" y="289864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 PUT sobre la REST API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script: cargar_existdb.py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0600" y="3447288"/>
            <a:ext cx="3931920" cy="80467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4800600" y="3447288"/>
            <a:ext cx="45720" cy="804672"/>
          </a:xfrm>
          <a:prstGeom prst="rect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4910328" y="35387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Verificación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10328" y="3794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count(collection("/db/yahooanswers")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//document)  →  16.952 ✓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4983480"/>
            <a:ext cx="8595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YAHOOANSWERS-XML PROJECT  •  BASES DE DATOS DOCUMENTALES 2025/26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CONSULTAS XQUERY — ANÁLISIS 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34747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Estadísticas generales y </a:t>
            </a:r>
            <a:r>
              <a:rPr lang="en-US" sz="22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Análisis de Redes Sociales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Resultados obtenidos sobre las 4 categorías cargadas en eXist-db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8321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874520" cy="86868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411480" y="1325880"/>
            <a:ext cx="18745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16.952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11480" y="1737360"/>
            <a:ext cx="187452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377440" y="1216152"/>
            <a:ext cx="1874520" cy="86868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2377440" y="1325880"/>
            <a:ext cx="18745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182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161.365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377440" y="1737360"/>
            <a:ext cx="187452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Respuestas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43400" y="1216152"/>
            <a:ext cx="1874520" cy="86868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343400" y="1325880"/>
            <a:ext cx="18745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8A1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12.881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343400" y="1737360"/>
            <a:ext cx="187452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Usuarios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distintos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309360" y="1216152"/>
            <a:ext cx="1874520" cy="86868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6309360" y="1325880"/>
            <a:ext cx="1874520" cy="477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53E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15,4%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309360" y="1737360"/>
            <a:ext cx="187452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Usuarios que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preguntan y resp.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11480" y="222199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Análisis de Redes Sociales: Simetría de participación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487168"/>
            <a:ext cx="8321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11480" y="2560320"/>
            <a:ext cx="2606040" cy="117043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411480" y="2560320"/>
            <a:ext cx="2606040" cy="54864"/>
          </a:xfrm>
          <a:prstGeom prst="rect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411480" y="263347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182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6.165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411480" y="309067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47,9%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33467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preguntan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0" y="2560320"/>
            <a:ext cx="2606040" cy="117043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3200400" y="2560320"/>
            <a:ext cx="2606040" cy="54864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3200400" y="263347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4.732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3200400" y="309067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36,7%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200400" y="33467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responden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0" y="2560320"/>
            <a:ext cx="2606040" cy="117043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Shape 32"/>
          <p:cNvSpPr/>
          <p:nvPr/>
        </p:nvSpPr>
        <p:spPr>
          <a:xfrm>
            <a:off x="5989320" y="2560320"/>
            <a:ext cx="2606040" cy="54864"/>
          </a:xfrm>
          <a:prstGeom prst="rect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5989320" y="263347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8A1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1.984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5989320" y="309067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15,4%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989320" y="33467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Hacen ambas cosas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3892739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Hallazgos clave: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02920" y="3964274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usuario más activo (</a:t>
            </a:r>
            <a:r>
              <a:rPr lang="en-US" sz="1000" b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u1012406</a:t>
            </a: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acumula </a:t>
            </a:r>
            <a:r>
              <a:rPr lang="en-US" sz="1000" b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398</a:t>
            </a: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00" b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mejores respuestas </a:t>
            </a: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concentradas en solo </a:t>
            </a:r>
            <a:r>
              <a:rPr lang="en-US" sz="1000" b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categorías </a:t>
            </a: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clustering elevado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</a:t>
            </a:r>
            <a:r>
              <a:rPr lang="en-US" sz="1000" b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usuarios</a:t>
            </a: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participan activamente en las comunidades ES e IT → comunidades prácticamente independientes</a:t>
            </a:r>
            <a:endParaRPr lang="en-US" sz="1000" dirty="0"/>
          </a:p>
          <a:p>
            <a:pPr marL="342900" indent="-342900" algn="l">
              <a:buSzPct val="100000"/>
              <a:buChar char="•"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categorías </a:t>
            </a:r>
            <a:r>
              <a:rPr lang="en-US" sz="1000" b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italianas </a:t>
            </a: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</a:t>
            </a:r>
            <a:r>
              <a:rPr lang="en-US" sz="1000" b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15,6%</a:t>
            </a: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tienen </a:t>
            </a:r>
            <a:r>
              <a:rPr lang="en-US" sz="1000" b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mayor simetría que las españolas </a:t>
            </a: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</a:t>
            </a:r>
            <a:r>
              <a:rPr lang="en-US" sz="1000" b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14,8% y 5,5%</a:t>
            </a: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→ mayor cohesión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4983480"/>
            <a:ext cx="8595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YAHOOANSWERS-XML PROJECT  •  BASES DE DATOS DOCUMENTALES 2025/26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CONSULTAS XQUERY — ANÁLISIS II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34747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Calidad de Datos</a:t>
            </a:r>
            <a:r>
              <a:rPr lang="en-US" sz="2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 Consultas Avanzadas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Completitud de campos, anomalías y comparativa entre comunidades ES e 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8321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11480" y="121615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Calidad de Datos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508760"/>
            <a:ext cx="1920240" cy="89611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11480" y="1618488"/>
            <a:ext cx="1920240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53E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31,3%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11480" y="2046427"/>
            <a:ext cx="1920240" cy="34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campo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14600" y="1508760"/>
            <a:ext cx="1920240" cy="89611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2514600" y="1618488"/>
            <a:ext cx="1920240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53E3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53,2%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514600" y="2046427"/>
            <a:ext cx="1920240" cy="34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campo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vot_date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11480" y="2496312"/>
            <a:ext cx="1920240" cy="89611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411480" y="2606040"/>
            <a:ext cx="1920240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11480" y="3033979"/>
            <a:ext cx="1920240" cy="34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Bestanswer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 20 chars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514600" y="2496312"/>
            <a:ext cx="1920240" cy="896112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2514600" y="2606040"/>
            <a:ext cx="1920240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8A1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2514600" y="3033979"/>
            <a:ext cx="1920240" cy="34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Inconsistencias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fechas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72663" y="3528178"/>
            <a:ext cx="2797538" cy="566928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1072663" y="3528178"/>
            <a:ext cx="45720" cy="566928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1189923" y="3612937"/>
            <a:ext cx="351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 847 preguntas (5,0%) con una sola </a:t>
            </a:r>
            <a:r>
              <a:rPr lang="en-US" sz="900" dirty="0" err="1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respuesta</a:t>
            </a: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</a:t>
            </a:r>
          </a:p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 16,8% resueltas el mismo día  </a:t>
            </a:r>
          </a:p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 0 preguntas sin ninguna respuesta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63440" y="1216152"/>
            <a:ext cx="0" cy="32004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4800600" y="12161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Comparativa ES vs IT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00600" y="1508760"/>
            <a:ext cx="1828800" cy="237744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846320" y="150876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720840" y="1508760"/>
            <a:ext cx="960120" cy="237744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6766560" y="1508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772400" y="1508760"/>
            <a:ext cx="960120" cy="237744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7818120" y="1508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800600" y="1746504"/>
            <a:ext cx="182880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4855464" y="1746504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 resp./preg.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720840" y="1746504"/>
            <a:ext cx="9601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34"/>
          <p:cNvSpPr/>
          <p:nvPr/>
        </p:nvSpPr>
        <p:spPr>
          <a:xfrm>
            <a:off x="6775704" y="1746504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9,08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72400" y="1746504"/>
            <a:ext cx="9601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Text 36"/>
          <p:cNvSpPr/>
          <p:nvPr/>
        </p:nvSpPr>
        <p:spPr>
          <a:xfrm>
            <a:off x="7827264" y="1746504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11,32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800600" y="1993392"/>
            <a:ext cx="1828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Text 38"/>
          <p:cNvSpPr/>
          <p:nvPr/>
        </p:nvSpPr>
        <p:spPr>
          <a:xfrm>
            <a:off x="4855464" y="1993392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Long. bestanswer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720840" y="1993392"/>
            <a:ext cx="9601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6775704" y="1993392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437,3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772400" y="1993392"/>
            <a:ext cx="9601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Text 42"/>
          <p:cNvSpPr/>
          <p:nvPr/>
        </p:nvSpPr>
        <p:spPr>
          <a:xfrm>
            <a:off x="7827264" y="1993392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443,8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800600" y="2240280"/>
            <a:ext cx="182880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Text 44"/>
          <p:cNvSpPr/>
          <p:nvPr/>
        </p:nvSpPr>
        <p:spPr>
          <a:xfrm>
            <a:off x="4855464" y="2240280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content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720840" y="2240280"/>
            <a:ext cx="9601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8" name="Text 46"/>
          <p:cNvSpPr/>
          <p:nvPr/>
        </p:nvSpPr>
        <p:spPr>
          <a:xfrm>
            <a:off x="6775704" y="2240280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32,2%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772400" y="2240280"/>
            <a:ext cx="9601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0" name="Text 48"/>
          <p:cNvSpPr/>
          <p:nvPr/>
        </p:nvSpPr>
        <p:spPr>
          <a:xfrm>
            <a:off x="7827264" y="2240280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27,8%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800600" y="2487168"/>
            <a:ext cx="1828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50"/>
          <p:cNvSpPr/>
          <p:nvPr/>
        </p:nvSpPr>
        <p:spPr>
          <a:xfrm>
            <a:off x="4855464" y="2487168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Usuarios preg.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720840" y="2487168"/>
            <a:ext cx="9601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52"/>
          <p:cNvSpPr/>
          <p:nvPr/>
        </p:nvSpPr>
        <p:spPr>
          <a:xfrm>
            <a:off x="6775704" y="2487168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6.473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7772400" y="2487168"/>
            <a:ext cx="9601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Text 54"/>
          <p:cNvSpPr/>
          <p:nvPr/>
        </p:nvSpPr>
        <p:spPr>
          <a:xfrm>
            <a:off x="7827264" y="2487168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1.687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800600" y="2734056"/>
            <a:ext cx="182880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8" name="Text 56"/>
          <p:cNvSpPr/>
          <p:nvPr/>
        </p:nvSpPr>
        <p:spPr>
          <a:xfrm>
            <a:off x="4855464" y="2734056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Usuarios resp.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720840" y="2734056"/>
            <a:ext cx="9601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0" name="Text 58"/>
          <p:cNvSpPr/>
          <p:nvPr/>
        </p:nvSpPr>
        <p:spPr>
          <a:xfrm>
            <a:off x="6775704" y="2734056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5.170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772400" y="2734056"/>
            <a:ext cx="960120" cy="237744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60"/>
          <p:cNvSpPr/>
          <p:nvPr/>
        </p:nvSpPr>
        <p:spPr>
          <a:xfrm>
            <a:off x="7827264" y="2734056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1.548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800600" y="2980944"/>
            <a:ext cx="182880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4" name="Text 62"/>
          <p:cNvSpPr/>
          <p:nvPr/>
        </p:nvSpPr>
        <p:spPr>
          <a:xfrm>
            <a:off x="4855464" y="2980944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Mismo día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720840" y="2980944"/>
            <a:ext cx="9601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4"/>
          <p:cNvSpPr/>
          <p:nvPr/>
        </p:nvSpPr>
        <p:spPr>
          <a:xfrm>
            <a:off x="6775704" y="2980944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16,0%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7772400" y="2980944"/>
            <a:ext cx="9601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8" name="Text 66"/>
          <p:cNvSpPr/>
          <p:nvPr/>
        </p:nvSpPr>
        <p:spPr>
          <a:xfrm>
            <a:off x="7827264" y="2980944"/>
            <a:ext cx="905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19,9%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4800600" y="338328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Palabras clave más frecuentes en política: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4800600" y="36393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presidente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593580" y="3693810"/>
            <a:ext cx="2980794" cy="146670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2" name="Text 70"/>
          <p:cNvSpPr/>
          <p:nvPr/>
        </p:nvSpPr>
        <p:spPr>
          <a:xfrm>
            <a:off x="8686800" y="36393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732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4800600" y="39319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gobierno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5590208" y="3986784"/>
            <a:ext cx="2036414" cy="146304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5" name="Text 73"/>
          <p:cNvSpPr/>
          <p:nvPr/>
        </p:nvSpPr>
        <p:spPr>
          <a:xfrm>
            <a:off x="8117174" y="39319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429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800600" y="42245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ley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597402" y="4279392"/>
            <a:ext cx="1295900" cy="146304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8" name="Text 76"/>
          <p:cNvSpPr/>
          <p:nvPr/>
        </p:nvSpPr>
        <p:spPr>
          <a:xfrm>
            <a:off x="7376660" y="4224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273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800600" y="451713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governo (IT)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5597402" y="4566965"/>
            <a:ext cx="531651" cy="146304"/>
          </a:xfrm>
          <a:prstGeom prst="rect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1" name="Text 79"/>
          <p:cNvSpPr/>
          <p:nvPr/>
        </p:nvSpPr>
        <p:spPr>
          <a:xfrm>
            <a:off x="6612411" y="451713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180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274320" y="4983480"/>
            <a:ext cx="8595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YAHOOANSWERS-XML PROJECT  •  BASES DE DATOS DOCUMENTALES 2025/26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CONCLUSIONES Y TRABAJO FUTURO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34747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YahooAnswers-XML</a:t>
            </a:r>
            <a:r>
              <a:rPr lang="en-US" sz="22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2025/26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841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Cierre del proyecto de análisis del corpus Yahoo! Answers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83210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11480" y="12344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LOGROS OBTENIDOS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90472"/>
            <a:ext cx="4114800" cy="59436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11480" y="1490472"/>
            <a:ext cx="45720" cy="594360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21208" y="15819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XSD validado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21208" y="1837944"/>
            <a:ext cx="3931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4 XML superan validación sin errores. Esquema ampliado con métricas de calidad.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2148840"/>
            <a:ext cx="4114800" cy="59436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11480" y="2148840"/>
            <a:ext cx="45720" cy="594360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521208" y="22402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XSLT funcional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21208" y="2496312"/>
            <a:ext cx="3931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Visualizaciones HTML navegables en ES e IT con desplegables por respuesta.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11480" y="2807208"/>
            <a:ext cx="4114800" cy="59436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411480" y="2807208"/>
            <a:ext cx="45720" cy="594360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521208" y="28986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Carga en eXist-db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21208" y="3154680"/>
            <a:ext cx="3931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16.952 documentos cargados y consultables mediante XQuery 3.1.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11480" y="3465576"/>
            <a:ext cx="4114800" cy="59436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11480" y="3465576"/>
            <a:ext cx="45720" cy="594360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521208" y="3557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Análisis de Redes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21208" y="3813048"/>
            <a:ext cx="3931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Baja simetría confirmada (15,4% ambos roles). Comunidades ES/IT independientes.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11480" y="4123944"/>
            <a:ext cx="4114800" cy="594360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411480" y="4123944"/>
            <a:ext cx="45720" cy="594360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521208" y="42153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Calidad de Datos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21208" y="4471416"/>
            <a:ext cx="3931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inconsistencias de fechas. 677 bestanswers anómalos identificados.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1234440"/>
            <a:ext cx="0" cy="35661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4800600" y="12344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3182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PRÓXIMOS PASOS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00600" y="1490472"/>
            <a:ext cx="3931920" cy="749808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Shape 31"/>
          <p:cNvSpPr/>
          <p:nvPr/>
        </p:nvSpPr>
        <p:spPr>
          <a:xfrm>
            <a:off x="4800600" y="1490472"/>
            <a:ext cx="45720" cy="749808"/>
          </a:xfrm>
          <a:prstGeom prst="rect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4910328" y="1581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Índices eXist-db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910328" y="183794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Crear índices ft:index para eliminar timeouts en consultas de ordenación global.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800600" y="2313432"/>
            <a:ext cx="3931920" cy="749808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Shape 35"/>
          <p:cNvSpPr/>
          <p:nvPr/>
        </p:nvSpPr>
        <p:spPr>
          <a:xfrm>
            <a:off x="4800600" y="2313432"/>
            <a:ext cx="45720" cy="749808"/>
          </a:xfrm>
          <a:prstGeom prst="rect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Text 36"/>
          <p:cNvSpPr/>
          <p:nvPr/>
        </p:nvSpPr>
        <p:spPr>
          <a:xfrm>
            <a:off x="4910328" y="24048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Anotación RDF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910328" y="26609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Enriquecer el XSD ampliado con semántica para integración con ontologías.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800600" y="3136392"/>
            <a:ext cx="3931920" cy="749808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9"/>
          <p:cNvSpPr/>
          <p:nvPr/>
        </p:nvSpPr>
        <p:spPr>
          <a:xfrm>
            <a:off x="4800600" y="3136392"/>
            <a:ext cx="45720" cy="749808"/>
          </a:xfrm>
          <a:prstGeom prst="rect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4910328" y="3227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Grafo social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910328" y="348386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Exportar datos de usuarios a GraphML/JSON-LD para visualización con Gephi.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800600" y="3959352"/>
            <a:ext cx="3931920" cy="749808"/>
          </a:xfrm>
          <a:prstGeom prst="rect">
            <a:avLst/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Shape 43"/>
          <p:cNvSpPr/>
          <p:nvPr/>
        </p:nvSpPr>
        <p:spPr>
          <a:xfrm>
            <a:off x="4800600" y="3959352"/>
            <a:ext cx="45720" cy="749808"/>
          </a:xfrm>
          <a:prstGeom prst="rect">
            <a:avLst/>
          </a:prstGeom>
          <a:solidFill>
            <a:srgbClr val="3182CE"/>
          </a:solidFill>
          <a:ln w="12700">
            <a:solidFill>
              <a:srgbClr val="3182C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Text 44"/>
          <p:cNvSpPr/>
          <p:nvPr/>
        </p:nvSpPr>
        <p:spPr>
          <a:xfrm>
            <a:off x="4910328" y="40507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37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Multilingüe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910328" y="430682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Ampliar el análisis a francés, alemán y portugués del corpus original.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1371600"/>
          </a:xfrm>
          <a:prstGeom prst="rect">
            <a:avLst/>
          </a:prstGeom>
          <a:solidFill>
            <a:srgbClr val="FF7A3D"/>
          </a:solidFill>
          <a:ln w="12700">
            <a:solidFill>
              <a:srgbClr val="FF7A3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7772400" y="1371600"/>
            <a:ext cx="1371600" cy="731520"/>
          </a:xfrm>
          <a:prstGeom prst="rect">
            <a:avLst/>
          </a:prstGeom>
          <a:solidFill>
            <a:srgbClr val="FF4F00"/>
          </a:solidFill>
          <a:ln w="12700">
            <a:solidFill>
              <a:srgbClr val="FF4F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Gracias por su atención!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300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¿ALGUNA PREGUNTA?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3657600" cy="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48640" y="30906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Repo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github.com/matteoamagliani/YahooAnswers-XML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576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4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eXist-db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8899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exist-db.org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11520"/>
          </a:solidFill>
          <a:ln w="12700">
            <a:solidFill>
              <a:srgbClr val="11152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20040" y="4846320"/>
            <a:ext cx="85039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560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Matteo Amagliani  ·  Manuel Avilés Rodríguez  ·  Bases de Datos Documentales  ·  2025/26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1159</Words>
  <Application>Microsoft Office PowerPoint</Application>
  <PresentationFormat>On-screen Show (16:9)</PresentationFormat>
  <Paragraphs>260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Courier New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YahooAnswers-XML</dc:title>
  <dc:subject>PptxGenJS Presentation</dc:subject>
  <dc:creator>Matteo Amagliani &amp; Manuel Avilés Rodríguez</dc:creator>
  <cp:lastModifiedBy>Matteo Amagliani</cp:lastModifiedBy>
  <cp:revision>4</cp:revision>
  <dcterms:created xsi:type="dcterms:W3CDTF">2026-03-24T16:23:11Z</dcterms:created>
  <dcterms:modified xsi:type="dcterms:W3CDTF">2026-03-25T10:10:40Z</dcterms:modified>
</cp:coreProperties>
</file>