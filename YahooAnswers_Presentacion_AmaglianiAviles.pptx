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87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98080" y="4114800"/>
            <a:ext cx="1645920" cy="102870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400800" y="4572000"/>
            <a:ext cx="1097280" cy="571500"/>
          </a:xfrm>
          <a:prstGeom prst="rect">
            <a:avLst/>
          </a:prstGeom>
          <a:solidFill>
            <a:srgbClr val="FF7A3D"/>
          </a:solidFill>
          <a:ln w="12700">
            <a:solidFill>
              <a:srgbClr val="FF7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BASES DE DATOS DOCUMENTALES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</a:t>
            </a:r>
            <a:r>
              <a:rPr lang="en-US" sz="46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</a:t>
            </a:r>
            <a:r>
              <a:rPr lang="en-US" sz="4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-XML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Yahoo! Answers con XML y eXist-db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114800" cy="0"/>
          </a:xfrm>
          <a:prstGeom prst="line">
            <a:avLst/>
          </a:prstGeom>
          <a:noFill/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999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Matteo Amagliani &amp; Manuel Avilés Rodríguez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ASIGNATURA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Datos Documentales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3520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/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3520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Marzo 2026</a:t>
            </a:r>
            <a:endParaRPr lang="en-US" sz="900" dirty="0"/>
          </a:p>
        </p:txBody>
      </p:sp>
      <p:pic>
        <p:nvPicPr>
          <p:cNvPr id="25" name="Camera 24">
            <a:extLst>
              <a:ext uri="{FF2B5EF4-FFF2-40B4-BE49-F238E27FC236}">
                <a16:creationId xmlns:a16="http://schemas.microsoft.com/office/drawing/2014/main" id="{CA29ED5B-8897-D5A5-0551-BAF8B1080C5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PUNTO DE PARTIDA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corpus: </a:t>
            </a: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Yahoo! Answers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dataset masivo de preguntas y respuestas para investigación en recuperación de información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920240" cy="9326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192024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775765"/>
            <a:ext cx="1920240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totales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corpus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216152"/>
            <a:ext cx="1920240" cy="9326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514600" y="1325880"/>
            <a:ext cx="192024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16.952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775765"/>
            <a:ext cx="1920240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analizados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216152"/>
            <a:ext cx="1920240" cy="9326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17720" y="1325880"/>
            <a:ext cx="192024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161.365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775765"/>
            <a:ext cx="1920240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0840" y="1216152"/>
            <a:ext cx="1920240" cy="9326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720840" y="1325880"/>
            <a:ext cx="192024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0840" y="1775765"/>
            <a:ext cx="1920240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Categorías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bilingües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423160"/>
            <a:ext cx="4069080" cy="75895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11480" y="2431390"/>
            <a:ext cx="45720" cy="750722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21208" y="2443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 y Gobierno (ES)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" y="26995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12.976 preguntas · 119.262 respuestas · Media: 9,19 resp./preg.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346704"/>
            <a:ext cx="4069080" cy="75072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11480" y="3346704"/>
            <a:ext cx="45719" cy="750722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21208" y="34381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Noticias y Actualidad (ES)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" y="36941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674 preguntas · 4.740 respuestas · Media: 7,03 resp./preg.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431390"/>
            <a:ext cx="4069080" cy="75072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663440" y="2431390"/>
            <a:ext cx="45720" cy="75072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77740" y="243748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Politica e governo (IT)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7740" y="270571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2.118 preguntas · 25.456 respuestas · Media: 12,02 resp./preg.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346704"/>
            <a:ext cx="4069080" cy="75072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663440" y="3346704"/>
            <a:ext cx="45720" cy="75072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73168" y="34381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Notizie ed eventi (IT)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6941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1.184 preguntas · 11.907 respuestas · Media: 10,06 resp./preg.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222107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🇪🇸  Español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221284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🇮🇹  Italiano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4370832"/>
            <a:ext cx="8321040" cy="393192"/>
          </a:xfrm>
          <a:prstGeom prst="rect">
            <a:avLst/>
          </a:prstGeom>
          <a:solidFill>
            <a:srgbClr val="FFF5F0"/>
          </a:solidFill>
          <a:ln w="12700">
            <a:solidFill>
              <a:srgbClr val="FFD0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81584" y="4370832"/>
            <a:ext cx="827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Corpus original: ydata-yanswers-all-questions-v1_0 (Yahoo! Research Webscope, oct. 2007) · 12 GB · 4.483.032 preguntas en todos los idiomas. Extraídos mediante parser SAX en Python.</a:t>
            </a:r>
            <a:endParaRPr lang="en-US" sz="850" dirty="0"/>
          </a:p>
        </p:txBody>
      </p:sp>
      <p:pic>
        <p:nvPicPr>
          <p:cNvPr id="59" name="Camera 58">
            <a:extLst>
              <a:ext uri="{FF2B5EF4-FFF2-40B4-BE49-F238E27FC236}">
                <a16:creationId xmlns:a16="http://schemas.microsoft.com/office/drawing/2014/main" id="{39945E5E-49A9-6078-B1D0-B5D08D7A39F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NUESTRA SOLUCIÓN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</a:t>
            </a: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flujo completo de análisis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un corpus de 12 GB a resultados sobre Redes Sociales y Calidad de Datos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9202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051560" y="1307592"/>
            <a:ext cx="640080" cy="640080"/>
          </a:xfrm>
          <a:prstGeom prst="ellipse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051560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" y="2029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3317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Parser SAX sobre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FullOct2007.xml (12 GB)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4 ficheros XML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148840"/>
            <a:ext cx="256032" cy="0"/>
          </a:xfrm>
          <a:prstGeom prst="line">
            <a:avLst/>
          </a:prstGeom>
          <a:noFill/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587752" y="1216152"/>
            <a:ext cx="19202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27832" y="1307592"/>
            <a:ext cx="640080" cy="640080"/>
          </a:xfrm>
          <a:prstGeom prst="ellipse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27832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60904" y="2029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XSD + XSLT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60904" y="23317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del esquema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Transformación 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07992" y="2148840"/>
            <a:ext cx="256032" cy="0"/>
          </a:xfrm>
          <a:prstGeom prst="line">
            <a:avLst/>
          </a:prstGeom>
          <a:noFill/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1216152"/>
            <a:ext cx="19202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404104" y="1307592"/>
            <a:ext cx="640080" cy="640080"/>
          </a:xfrm>
          <a:prstGeom prst="ellipse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04104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37176" y="2029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eXist-db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37176" y="23317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de los 4 XML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colecciones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/es/ y /it/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84264" y="2148840"/>
            <a:ext cx="256032" cy="0"/>
          </a:xfrm>
          <a:prstGeom prst="line">
            <a:avLst/>
          </a:prstGeom>
          <a:noFill/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940296" y="1216152"/>
            <a:ext cx="19202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580376" y="1307592"/>
            <a:ext cx="640080" cy="640080"/>
          </a:xfrm>
          <a:prstGeom prst="ellipse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580376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13448" y="20299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XQuery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13448" y="23317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consultas 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Redes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Calidad de Datos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32186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456432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11480" y="3547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un esquema XSD que valide la estructura del corpus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38039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un XSD ampliado con métricas de calidad y anotaciones de red social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40599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transformaciones XSLT a HTML navegable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3547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Cargar los 4 XML en eXist-db y desarrollar consultas XQuery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38039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Redes Sociales y Calidad de Datos sobre el corpus</a:t>
            </a:r>
            <a:endParaRPr lang="en-US" sz="950" dirty="0"/>
          </a:p>
        </p:txBody>
      </p:sp>
      <p:pic>
        <p:nvPicPr>
          <p:cNvPr id="52" name="Camera 51">
            <a:extLst>
              <a:ext uri="{FF2B5EF4-FFF2-40B4-BE49-F238E27FC236}">
                <a16:creationId xmlns:a16="http://schemas.microsoft.com/office/drawing/2014/main" id="{D8D42142-0A01-73C9-AE98-F9D716AB8EA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XML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XSD</a:t>
            </a: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validación y extensión del corpus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formal de la estructura de los documentos del corpus Yahoo! Answers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XSD Original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17904"/>
            <a:ext cx="1417320" cy="237744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74520" y="1517904"/>
            <a:ext cx="1325880" cy="237744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920240" y="1517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XSD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517904"/>
            <a:ext cx="731520" cy="237744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0" y="15179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755648"/>
            <a:ext cx="14173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6344" y="175564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74520" y="1755648"/>
            <a:ext cx="132588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929384" y="1755648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positiveInteger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755648"/>
            <a:ext cx="7315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00984" y="175564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002536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66344" y="200253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74520" y="2002536"/>
            <a:ext cx="13258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929384" y="200253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2002536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300984" y="20025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2249424"/>
            <a:ext cx="14173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66344" y="224942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74520" y="2249424"/>
            <a:ext cx="132588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929384" y="224942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2249424"/>
            <a:ext cx="7315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300984" y="22494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2496312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66344" y="2496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bestanswer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74520" y="2496312"/>
            <a:ext cx="13258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929384" y="249631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46120" y="2496312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300984" y="249631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2743200"/>
            <a:ext cx="14173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66344" y="274320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nbestanswers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74520" y="2743200"/>
            <a:ext cx="132588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1929384" y="274320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ListaRespuestas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46120" y="2743200"/>
            <a:ext cx="7315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300984" y="274320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" y="2990088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66344" y="299008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74520" y="2990088"/>
            <a:ext cx="13258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1929384" y="2990088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xs:long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46120" y="2990088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300984" y="299008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1480" y="3236976"/>
            <a:ext cx="14173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66344" y="323697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vot_date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74520" y="3236976"/>
            <a:ext cx="132588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1929384" y="323697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xs:long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46120" y="3236976"/>
            <a:ext cx="7315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3300984" y="323697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1480" y="3483864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66344" y="348386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/ best_id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874520" y="3483864"/>
            <a:ext cx="13258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1929384" y="348386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UserId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46120" y="3483864"/>
            <a:ext cx="7315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3300984" y="348386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11480" y="3749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restringidos: CodigoIdioma ([a-z]{2}) · UserId (u[0-9]+)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1207008"/>
            <a:ext cx="0" cy="3200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480060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XSD Ampliado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800600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Extiende el esquema original con dos nuevos elementos opcionales para el análisis: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00600" y="1810512"/>
            <a:ext cx="3931920" cy="111556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4800600" y="1810512"/>
            <a:ext cx="45720" cy="111556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4910328" y="1901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&lt;metricas_calidad&gt;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910328" y="215798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tiene_content · longitud_subject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longitud_bestanswer · num_respuestas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fue_votado · tiempo_resolucion_seg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800600" y="2999232"/>
            <a:ext cx="3931920" cy="93268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4800600" y="2999232"/>
            <a:ext cx="45720" cy="93268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4910328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&lt;red_social&gt;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10328" y="334670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autor_es_respondedor · subcats_usuario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peso_enlace (para grafos sociales)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800599" y="3986784"/>
            <a:ext cx="3538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campos nuevos usan minOccurs="0" para compatibilidad con el corpus original.</a:t>
            </a:r>
            <a:endParaRPr lang="en-US" sz="900" dirty="0"/>
          </a:p>
        </p:txBody>
      </p:sp>
      <p:pic>
        <p:nvPicPr>
          <p:cNvPr id="94" name="Camera 93">
            <a:extLst>
              <a:ext uri="{FF2B5EF4-FFF2-40B4-BE49-F238E27FC236}">
                <a16:creationId xmlns:a16="http://schemas.microsoft.com/office/drawing/2014/main" id="{71DBEF16-1446-4795-DF64-236F7BA0995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XSLT Y CARGA EN EXIST-DB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Transformación HTML y </a:t>
            </a: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en eXist-db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XML del corpus a una base de datos consultable mediante XQuery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Transformaciones XSLT 1.0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411480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45720" cy="82296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21208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es_html.xsl  —  Español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18562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Cabecera azul · Textos en español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"Mejor respuesta" · desplegable otras resp.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558913"/>
            <a:ext cx="411480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28088" y="2554576"/>
            <a:ext cx="45719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21208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it_html.xsl  —  Italiano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" y="2880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Cabecera roja · Textos en italiano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"Migliore risposta" · desplegable altre risp.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Características comunes: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Cabecera con categoría y count(//document)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Tarjeta por documento: subject + bestanswer resaltado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&lt;details&gt; desplegable para demás respuestas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Metadatos: subcategoría, IDs, código de idioma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07008"/>
            <a:ext cx="0" cy="3200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0060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en eXist-db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508760"/>
            <a:ext cx="3931920" cy="914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92040" y="157276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/db/yahooanswers/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es/  politica_y_gobierno.xml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noticias_y_actualidad.xml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it/  politica_e_governo.xml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notizie_ed_eventi.xml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551176"/>
            <a:ext cx="393192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800600" y="2551176"/>
            <a:ext cx="45720" cy="8046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10328" y="2642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de carga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PUT sobre la REST API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script: cargar_existdb.py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447288"/>
            <a:ext cx="3931920" cy="80467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800600" y="3447288"/>
            <a:ext cx="45720" cy="80467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910328" y="3538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0328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count(collection("/db/yahooanswers")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//document)  →  16.952 ✓</a:t>
            </a:r>
            <a:endParaRPr lang="en-US" sz="950" dirty="0"/>
          </a:p>
        </p:txBody>
      </p:sp>
      <p:pic>
        <p:nvPicPr>
          <p:cNvPr id="47" name="Camera 46">
            <a:extLst>
              <a:ext uri="{FF2B5EF4-FFF2-40B4-BE49-F238E27FC236}">
                <a16:creationId xmlns:a16="http://schemas.microsoft.com/office/drawing/2014/main" id="{1D078FC9-75B5-5FA4-A157-F86E0E40E2B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XQUERY — ANÁLISIS 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Estadísticas generales y </a:t>
            </a: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Redes Sociales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obtenidos sobre las 4 categorías cargadas en eXist-db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1874520" cy="868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325880"/>
            <a:ext cx="1874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1874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1216152"/>
            <a:ext cx="1874520" cy="868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377440" y="1325880"/>
            <a:ext cx="1874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161.365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1737360"/>
            <a:ext cx="1874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1216152"/>
            <a:ext cx="1874520" cy="868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343400" y="1325880"/>
            <a:ext cx="1874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12.881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43400" y="1737360"/>
            <a:ext cx="1874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distintos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09360" y="1216152"/>
            <a:ext cx="1874520" cy="868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09360" y="1325880"/>
            <a:ext cx="1874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15,4%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1874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 que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preguntan y resp.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22199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Redes Sociales: Simetría de participación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48716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11480" y="2560320"/>
            <a:ext cx="2606040" cy="117043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11480" y="2560320"/>
            <a:ext cx="2606040" cy="54864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11480" y="26334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6.165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1480" y="3090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47,9%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3467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preguntan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560320"/>
            <a:ext cx="2606040" cy="117043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200400" y="2560320"/>
            <a:ext cx="2606040" cy="54864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200400" y="26334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4.732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00400" y="3090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36,7%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3467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responden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2560320"/>
            <a:ext cx="2606040" cy="117043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5989320" y="2560320"/>
            <a:ext cx="260604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989320" y="26334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1.984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989320" y="3090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15,4%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3467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Hacen ambas cosas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3892739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clave: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396427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usuario más activo (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u1012406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acumula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398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mejores respuestas 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concentradas en solo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categorías 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clustering elevado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usuarios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participan activamente en las comunidades ES e IT → comunidades prácticamente independientes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categorías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italianas 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15,6%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tienen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simetría que las españolas 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14,8% y 5,5%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→ mayor cohesión</a:t>
            </a:r>
            <a:endParaRPr lang="en-US" sz="1000" dirty="0"/>
          </a:p>
        </p:txBody>
      </p:sp>
      <p:pic>
        <p:nvPicPr>
          <p:cNvPr id="50" name="Camera 49">
            <a:extLst>
              <a:ext uri="{FF2B5EF4-FFF2-40B4-BE49-F238E27FC236}">
                <a16:creationId xmlns:a16="http://schemas.microsoft.com/office/drawing/2014/main" id="{8BEAB868-FF2F-2274-25D2-A7583AFCD81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XQUERY — ANÁLISIS II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de Datos</a:t>
            </a: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Consultas Avanzadas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Completitud de campos, anomalías y comparativa entre comunidades ES e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2161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de Datos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1920240" cy="89611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11480" y="1618488"/>
            <a:ext cx="192024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31,3%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2046427"/>
            <a:ext cx="19202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campo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508760"/>
            <a:ext cx="1920240" cy="89611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14600" y="1618488"/>
            <a:ext cx="192024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046427"/>
            <a:ext cx="19202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campo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vot_date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496312"/>
            <a:ext cx="1920240" cy="89611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192024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11480" y="3033979"/>
            <a:ext cx="19202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Bestanswer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20 chars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14600" y="2496312"/>
            <a:ext cx="1920240" cy="89611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514600" y="2606040"/>
            <a:ext cx="192024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514600" y="3033979"/>
            <a:ext cx="19202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Inconsistencias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fechas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72663" y="3528178"/>
            <a:ext cx="2797538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072663" y="3528178"/>
            <a:ext cx="45720" cy="56692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189923" y="3612937"/>
            <a:ext cx="351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847 preguntas (5,0%) con una sola </a:t>
            </a:r>
            <a:r>
              <a:rPr lang="en-US" sz="9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16,8% resueltas el mismo día  </a:t>
            </a:r>
          </a:p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0 preguntas sin ninguna respuesta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216152"/>
            <a:ext cx="0" cy="3200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800600" y="1216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 ES vs 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508760"/>
            <a:ext cx="1828800" cy="237744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15087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20840" y="1508760"/>
            <a:ext cx="960120" cy="237744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766560" y="1508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0" y="1508760"/>
            <a:ext cx="960120" cy="237744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818120" y="1508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1746504"/>
            <a:ext cx="182880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855464" y="174650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resp./preg.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1746504"/>
            <a:ext cx="9601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775704" y="1746504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9,08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772400" y="1746504"/>
            <a:ext cx="9601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827264" y="1746504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11,32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1993392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855464" y="199339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Long. bestanswer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20840" y="1993392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775704" y="1993392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437,3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72400" y="1993392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7827264" y="1993392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443,8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00600" y="2240280"/>
            <a:ext cx="182880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855464" y="22402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content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20840" y="2240280"/>
            <a:ext cx="9601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6775704" y="224028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32,2%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772400" y="2240280"/>
            <a:ext cx="9601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827264" y="224028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27,8%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00600" y="2487168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4855464" y="248716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 preg.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20840" y="2487168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6775704" y="248716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6.473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772400" y="2487168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7827264" y="248716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1.687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00600" y="2734056"/>
            <a:ext cx="182880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855464" y="27340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 resp.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20840" y="2734056"/>
            <a:ext cx="9601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6775704" y="27340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5.170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772400" y="2734056"/>
            <a:ext cx="960120" cy="2377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7827264" y="27340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1.548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00600" y="2980944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4855464" y="298094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Mismo día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20840" y="2980944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6775704" y="2980944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16,0%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772400" y="2980944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7827264" y="2980944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19,9%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800600" y="3383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Palabras clave más frecuentes en política: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800600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presidente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593580" y="3693810"/>
            <a:ext cx="2980794" cy="14667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8686800" y="36393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800600" y="3931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gobierno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590208" y="3986784"/>
            <a:ext cx="2036414" cy="146304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8117174" y="39319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429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00600" y="4224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597402" y="4279392"/>
            <a:ext cx="1295900" cy="146304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7376660" y="4224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273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00600" y="4517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governo (IT)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597402" y="4566965"/>
            <a:ext cx="531651" cy="146304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6612411" y="4517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</a:t>
            </a:r>
            <a:endParaRPr lang="en-US" sz="800" dirty="0"/>
          </a:p>
        </p:txBody>
      </p:sp>
      <p:pic>
        <p:nvPicPr>
          <p:cNvPr id="90" name="Camera 89">
            <a:extLst>
              <a:ext uri="{FF2B5EF4-FFF2-40B4-BE49-F238E27FC236}">
                <a16:creationId xmlns:a16="http://schemas.microsoft.com/office/drawing/2014/main" id="{21E70694-F832-38DC-6B5A-4DC392022B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 PROJECT  •  BASES DE DATOS DOCUMENTALES 2025/26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 Y TRABAJO FUTURO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YahooAnswers-XML</a:t>
            </a: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2025/26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del proyecto de análisis del corpus Yahoo! Answers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LOGROS OBTENIDOS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90472"/>
            <a:ext cx="4114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11480" y="1490472"/>
            <a:ext cx="45720" cy="59436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21208" y="1581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XSD validado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183794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4 XML superan validación sin errores. Esquema ampliado con métricas de calidad.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4114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11480" y="2148840"/>
            <a:ext cx="45720" cy="59436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21208" y="2240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XSLT funcional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" y="24963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Visualizaciones HTML navegables en ES e IT con desplegables por respuesta.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807208"/>
            <a:ext cx="4114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11480" y="2807208"/>
            <a:ext cx="45720" cy="59436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21208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en eXist-db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" y="315468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16.952 documentos cargados y consultables mediante XQuery 3.1.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465576"/>
            <a:ext cx="4114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11480" y="3465576"/>
            <a:ext cx="45720" cy="59436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21208" y="3557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Redes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" y="38130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 simetría confirmada (15,4% ambos roles). Comunidades ES/IT independientes.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4123944"/>
            <a:ext cx="4114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11480" y="4123944"/>
            <a:ext cx="45720" cy="59436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21208" y="4215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de Datos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" y="447141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inconsistencias de fechas. 677 bestanswers anómalos identificados.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0" cy="3566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00600" y="1234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490472"/>
            <a:ext cx="393192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800600" y="1490472"/>
            <a:ext cx="45720" cy="7498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910328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Índices eXist-db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0328" y="18379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índices ft:index para eliminar timeouts en consultas de ordenación global.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2313432"/>
            <a:ext cx="393192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4800600" y="2313432"/>
            <a:ext cx="45720" cy="7498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910328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Anotación RDF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0328" y="26609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Enriquecer el XSD ampliado con semántica para integración con ontologías.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3136392"/>
            <a:ext cx="393192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800600" y="3136392"/>
            <a:ext cx="45720" cy="7498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910328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Grafo social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34838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Exportar datos de usuarios a GraphML/JSON-LD para visualización con Gephi.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3959352"/>
            <a:ext cx="393192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4800600" y="3959352"/>
            <a:ext cx="45720" cy="7498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910328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Multilingüe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0328" y="43068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Ampliar el análisis a francés, alemán y portugués del corpus original.</a:t>
            </a:r>
            <a:endParaRPr lang="en-US" sz="850" dirty="0"/>
          </a:p>
        </p:txBody>
      </p:sp>
      <p:pic>
        <p:nvPicPr>
          <p:cNvPr id="56" name="Camera 55">
            <a:extLst>
              <a:ext uri="{FF2B5EF4-FFF2-40B4-BE49-F238E27FC236}">
                <a16:creationId xmlns:a16="http://schemas.microsoft.com/office/drawing/2014/main" id="{5DEB1BA8-5871-2196-3585-9AC7C018A71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371600"/>
          </a:xfrm>
          <a:prstGeom prst="rect">
            <a:avLst/>
          </a:prstGeom>
          <a:solidFill>
            <a:srgbClr val="FF7A3D"/>
          </a:solidFill>
          <a:ln w="12700">
            <a:solidFill>
              <a:srgbClr val="FF7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772400" y="1371600"/>
            <a:ext cx="1371600" cy="731520"/>
          </a:xfrm>
          <a:prstGeom prst="rect">
            <a:avLst/>
          </a:prstGeom>
          <a:solidFill>
            <a:srgbClr val="FF4F00"/>
          </a:solidFill>
          <a:ln w="12700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 por su atención!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¿ALGUNA PREGUNTA?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github.com/matteoamagliani/YahooAnswers-XML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eXist-db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exist-db.org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4846320"/>
            <a:ext cx="8503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6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Matteo Amagliani  ·  Manuel Avilés Rodríguez  ·  Bases de Datos Documentales  ·  2025/26</a:t>
            </a:r>
            <a:endParaRPr lang="en-US" sz="800" dirty="0"/>
          </a:p>
        </p:txBody>
      </p:sp>
      <p:pic>
        <p:nvPicPr>
          <p:cNvPr id="20" name="Camera 19">
            <a:extLst>
              <a:ext uri="{FF2B5EF4-FFF2-40B4-BE49-F238E27FC236}">
                <a16:creationId xmlns:a16="http://schemas.microsoft.com/office/drawing/2014/main" id="{3B7097F1-D311-F6FD-C111-FEC85F0718D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0" y="76962"/>
            <a:ext cx="1226058" cy="1226058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1159</Words>
  <Application>Microsoft Office PowerPoint</Application>
  <PresentationFormat>On-screen Show (16:9)</PresentationFormat>
  <Paragraphs>260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YahooAnswers-XML</dc:title>
  <dc:subject>PptxGenJS Presentation</dc:subject>
  <dc:creator>Matteo Amagliani &amp; Manuel Avilés Rodríguez</dc:creator>
  <cp:lastModifiedBy>Matteo Amagliani</cp:lastModifiedBy>
  <cp:revision>5</cp:revision>
  <dcterms:created xsi:type="dcterms:W3CDTF">2026-03-24T16:23:11Z</dcterms:created>
  <dcterms:modified xsi:type="dcterms:W3CDTF">2026-03-25T17:46:23Z</dcterms:modified>
</cp:coreProperties>
</file>